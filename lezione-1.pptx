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305" r:id="rId3"/>
    <p:sldId id="306" r:id="rId4"/>
    <p:sldId id="308" r:id="rId5"/>
    <p:sldId id="307" r:id="rId6"/>
    <p:sldId id="313" r:id="rId7"/>
    <p:sldId id="256" r:id="rId8"/>
    <p:sldId id="321" r:id="rId9"/>
    <p:sldId id="310" r:id="rId10"/>
    <p:sldId id="314" r:id="rId11"/>
    <p:sldId id="315" r:id="rId12"/>
    <p:sldId id="316" r:id="rId13"/>
    <p:sldId id="317" r:id="rId14"/>
    <p:sldId id="311" r:id="rId15"/>
    <p:sldId id="257" r:id="rId16"/>
    <p:sldId id="318" r:id="rId17"/>
    <p:sldId id="319" r:id="rId18"/>
    <p:sldId id="320" r:id="rId19"/>
    <p:sldId id="259" r:id="rId20"/>
    <p:sldId id="322" r:id="rId21"/>
    <p:sldId id="323" r:id="rId22"/>
    <p:sldId id="258" r:id="rId23"/>
    <p:sldId id="324" r:id="rId24"/>
    <p:sldId id="260" r:id="rId25"/>
    <p:sldId id="328" r:id="rId26"/>
  </p:sldIdLst>
  <p:sldSz cx="12192000" cy="6858000"/>
  <p:notesSz cx="6858000" cy="9144000"/>
  <p:defaultTextStyle>
    <a:defPPr>
      <a:defRPr lang="it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3"/>
    <p:restoredTop sz="94658"/>
  </p:normalViewPr>
  <p:slideViewPr>
    <p:cSldViewPr snapToGrid="0">
      <p:cViewPr varScale="1">
        <p:scale>
          <a:sx n="116" d="100"/>
          <a:sy n="116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A874F6-3630-F6F7-839F-9CD3D9E40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801BCC2-8C1A-25FD-E298-A002ADD46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E0A8CE-654B-DB52-DFB5-1FFFE7FD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5BA4FF-75A7-E2EE-F937-BF65078D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E83D39-6BEF-FB9B-60DB-973E088B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5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E60D2-E99F-3DE4-EAAF-CF1D32A0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413E28-5192-9087-C018-8EE8D2AFC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2E4B3B-0FCE-9096-3305-A8BE4668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3CA1CC-5518-55C9-81E3-62AFF6F6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DBCE63-C995-DA39-F6F5-EFAB1A23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02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3D6A4F-5FFB-7968-AB91-6D357AE0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FB6BB6D-79FE-0FD5-F027-4A6EBDD8A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DFFB4E-D2EB-8160-FFFB-6C3086DD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84E866-A643-657C-D476-F4520094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1B63FC-C4FE-BB53-3D6B-6F81455D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666965-D4A1-BA1D-B2F5-2F7CBFE1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4B788B-AEE6-B339-2074-39D584848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BBFF6D7-E4A1-3EDA-62C2-B93F3D56B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AD51EEC-0D9A-1EA4-CEA9-C6AF0CC7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970BB6A-A22A-F2F2-C778-B684A839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7C460F-3ABB-73B5-E861-BF23526C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4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C6D31F-96CD-4794-25C2-D3113103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2D0C09-4445-0F51-D051-18C642203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7B60DE-5B21-615B-9601-6AF76CEC4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9D41161-CE41-EDF6-F68C-AB3C7C442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727479B-19E4-2E2C-5C7B-74D862FE0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54A154C-5568-49AD-D21A-FB4FED3B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95603DE-E4FD-0379-2B22-9F247D60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08DE0EE-E43B-BE84-0C8F-AD77E2F5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480C9C-6614-8D92-CB4E-0B90994D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6A8EB9A-CEE1-8DEA-4297-7C884965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DBEB1AE-5116-40AC-05D7-6AAB76BB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6B8C641-7177-88C9-D224-19D588B5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76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34203FE-D359-31A0-54D4-5683BFE6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075D59C-8321-F3B0-1694-09406CE6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9F08D6-FA11-A6B1-B6A1-587A0E82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32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CCED7-D998-92F0-E56A-364939771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0D6640-91E9-CEDA-2303-748BD8DB4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6BD9EAA-DC8D-ECD9-2CE2-853B588B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5A8EB3C-A431-16DA-A5E3-139508FB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6EE222E-1E37-B029-D242-EBC2501E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5E39D2-4598-1D37-698B-C0462A83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6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42E1D6-E6C6-E46D-15CC-4855D1C9D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93F9E0F-CBBD-071E-E254-40831317D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F90B759-A1FB-7A1A-D733-717646D89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3A6E18-63C0-8276-4461-A418AB54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EFB2C7-8D1C-C225-F95C-EB098091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8F9D85-9827-F95D-1D5A-0AC1B819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2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C08F36-5E1E-7ADA-D365-091F81B2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CFE57EE-670D-6B8C-D4C2-AFEF91D37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7DD5DE-AB7D-56B5-BA04-EE7D35F5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8ACB0A-7DB8-8912-6FB8-ECE2123F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5F4713-C2F6-35DA-8666-DB8A8428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2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D0C72DB-D9AF-4779-4448-CE04D4DF3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11E5E71-E22F-1B13-2967-387EB8CD2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5E4216-820F-AD13-6C88-5906D07CE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2A1B24-5DA5-0AF3-4267-B0C4B3FA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2A2BA8-1042-5463-DBF7-BD08EC38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6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DA45BF7-8026-61B7-8A04-0CAE3EDA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132B600-C075-389E-11F5-A8459F4A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7E2F09-40B3-7EE9-9B90-0959BA9D7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E3CAF-15EC-3B46-9654-0FA0A1E558C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E4C4A7-2523-500E-8E73-7E49FD049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84C360-C188-89E4-9431-41EBADF94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7EF28-47FB-4E49-AE01-01F2B3AD335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1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0FAA6-DA98-9583-6537-68DE0210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997FE46-8D20-1BD8-28E1-D53773959F48}"/>
              </a:ext>
            </a:extLst>
          </p:cNvPr>
          <p:cNvSpPr txBox="1"/>
          <p:nvPr/>
        </p:nvSpPr>
        <p:spPr>
          <a:xfrm>
            <a:off x="3797940" y="1640922"/>
            <a:ext cx="45961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Semiotica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e Teoria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della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Comunicazione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C01482-B600-9DF1-7987-4B3A0DD4B6B5}"/>
              </a:ext>
            </a:extLst>
          </p:cNvPr>
          <p:cNvSpPr txBox="1"/>
          <p:nvPr/>
        </p:nvSpPr>
        <p:spPr>
          <a:xfrm>
            <a:off x="4940028" y="2875223"/>
            <a:ext cx="23119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Janek Guerrini</a:t>
            </a:r>
          </a:p>
          <a:p>
            <a:pPr algn="ctr"/>
            <a:endParaRPr lang="en-AU" sz="1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112CBE8-C984-219E-16C5-9D5285FF6CCB}"/>
              </a:ext>
            </a:extLst>
          </p:cNvPr>
          <p:cNvSpPr txBox="1"/>
          <p:nvPr/>
        </p:nvSpPr>
        <p:spPr>
          <a:xfrm>
            <a:off x="1330961" y="799823"/>
            <a:ext cx="42265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>
                <a:solidFill>
                  <a:schemeClr val="bg1"/>
                </a:solidFill>
                <a:latin typeface="Aptos" panose="020B0004020202020204" pitchFamily="34" charset="0"/>
              </a:rPr>
              <a:t>Università degli Studi di Padova</a:t>
            </a:r>
          </a:p>
          <a:p>
            <a:endParaRPr lang="it-FR" sz="1400" dirty="0">
              <a:latin typeface="NimbusRomNo9L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D0770-30C2-F1ED-9A39-75A234F24A40}"/>
              </a:ext>
            </a:extLst>
          </p:cNvPr>
          <p:cNvSpPr txBox="1"/>
          <p:nvPr/>
        </p:nvSpPr>
        <p:spPr>
          <a:xfrm>
            <a:off x="5557521" y="799823"/>
            <a:ext cx="54762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>
                <a:solidFill>
                  <a:schemeClr val="bg1"/>
                </a:solidFill>
                <a:latin typeface="Aptos" panose="020B0004020202020204" pitchFamily="34" charset="0"/>
              </a:rPr>
              <a:t>Corso di Laurea in Comunicazione</a:t>
            </a:r>
          </a:p>
          <a:p>
            <a:endParaRPr lang="it-FR" sz="1400" dirty="0">
              <a:latin typeface="NimbusRomNo9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383ED7C-1E18-CCF1-ADA7-873A6F8BD756}"/>
              </a:ext>
            </a:extLst>
          </p:cNvPr>
          <p:cNvSpPr txBox="1"/>
          <p:nvPr/>
        </p:nvSpPr>
        <p:spPr>
          <a:xfrm>
            <a:off x="3225492" y="3613887"/>
            <a:ext cx="57410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Lunedì, martedì, mercoledì, 12:30 – 14:30</a:t>
            </a:r>
          </a:p>
          <a:p>
            <a:pPr algn="ctr"/>
            <a:endParaRPr lang="it-IT" sz="1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ctr"/>
            <a:r>
              <a:rPr lang="it-IT" sz="14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AULA CAL 2 – Complesso </a:t>
            </a:r>
            <a:r>
              <a:rPr lang="it-IT" sz="14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Maldura</a:t>
            </a:r>
            <a:r>
              <a:rPr lang="it-IT" sz="14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Via </a:t>
            </a:r>
            <a:r>
              <a:rPr lang="it-IT" sz="140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Calfura</a:t>
            </a:r>
            <a:r>
              <a:rPr lang="it-IT" sz="140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, 21-23, Padova</a:t>
            </a:r>
          </a:p>
          <a:p>
            <a:endParaRPr lang="it-IT" sz="1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2448D4B-EA09-B845-5B95-B47C06F5C21B}"/>
              </a:ext>
            </a:extLst>
          </p:cNvPr>
          <p:cNvSpPr txBox="1"/>
          <p:nvPr/>
        </p:nvSpPr>
        <p:spPr>
          <a:xfrm>
            <a:off x="3982719" y="4732772"/>
            <a:ext cx="42265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>
                <a:solidFill>
                  <a:schemeClr val="bg1"/>
                </a:solidFill>
                <a:latin typeface="Aptos" panose="020B0004020202020204" pitchFamily="34" charset="0"/>
              </a:rPr>
              <a:t>A.A. 2025-2026</a:t>
            </a:r>
          </a:p>
          <a:p>
            <a:endParaRPr lang="it-FR" sz="1400" dirty="0">
              <a:latin typeface="NimbusRomNo9L"/>
            </a:endParaRPr>
          </a:p>
        </p:txBody>
      </p:sp>
    </p:spTree>
    <p:extLst>
      <p:ext uri="{BB962C8B-B14F-4D97-AF65-F5344CB8AC3E}">
        <p14:creationId xmlns:p14="http://schemas.microsoft.com/office/powerpoint/2010/main" val="318878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E5C9C-C3E7-A944-2C10-4B7F28DF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052A96-5597-0148-1DC6-ECDA126443B0}"/>
              </a:ext>
            </a:extLst>
          </p:cNvPr>
          <p:cNvSpPr txBox="1"/>
          <p:nvPr/>
        </p:nvSpPr>
        <p:spPr>
          <a:xfrm>
            <a:off x="4766949" y="360762"/>
            <a:ext cx="26581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Comunicazione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8BB6100-9161-C021-546D-726895046D52}"/>
              </a:ext>
            </a:extLst>
          </p:cNvPr>
          <p:cNvSpPr txBox="1"/>
          <p:nvPr/>
        </p:nvSpPr>
        <p:spPr>
          <a:xfrm>
            <a:off x="2878244" y="1552691"/>
            <a:ext cx="643554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Trasferimento di informazioni </a:t>
            </a:r>
          </a:p>
          <a:p>
            <a:endParaRPr lang="it-FR" sz="1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0D0D7C9-7BF7-0BF2-6DE3-E4F1CF4EDAE2}"/>
              </a:ext>
            </a:extLst>
          </p:cNvPr>
          <p:cNvSpPr/>
          <p:nvPr/>
        </p:nvSpPr>
        <p:spPr>
          <a:xfrm>
            <a:off x="3012707" y="1366787"/>
            <a:ext cx="6266047" cy="141701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61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17103-401E-DBD4-EE03-C9A1E182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23DC68A-40C3-60BF-36FE-51CCF717FFE7}"/>
              </a:ext>
            </a:extLst>
          </p:cNvPr>
          <p:cNvSpPr txBox="1"/>
          <p:nvPr/>
        </p:nvSpPr>
        <p:spPr>
          <a:xfrm>
            <a:off x="4766949" y="360762"/>
            <a:ext cx="26581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Comunicazione:</a:t>
            </a:r>
            <a:endParaRPr lang="it-IT" sz="200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IT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677013-993A-A231-97B1-6259BE56C781}"/>
              </a:ext>
            </a:extLst>
          </p:cNvPr>
          <p:cNvSpPr txBox="1"/>
          <p:nvPr/>
        </p:nvSpPr>
        <p:spPr>
          <a:xfrm>
            <a:off x="3356740" y="1552691"/>
            <a:ext cx="547855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Trasferimento di informazioni </a:t>
            </a:r>
          </a:p>
          <a:p>
            <a:endParaRPr lang="it-FR" sz="1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F010A47-1851-79CC-A149-4776D67AED5C}"/>
              </a:ext>
            </a:extLst>
          </p:cNvPr>
          <p:cNvSpPr/>
          <p:nvPr/>
        </p:nvSpPr>
        <p:spPr>
          <a:xfrm>
            <a:off x="3012707" y="1366787"/>
            <a:ext cx="6266047" cy="141701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A1EFF54-1DD8-FBB0-2B0B-1DD22BCDC55B}"/>
              </a:ext>
            </a:extLst>
          </p:cNvPr>
          <p:cNvSpPr txBox="1"/>
          <p:nvPr/>
        </p:nvSpPr>
        <p:spPr>
          <a:xfrm>
            <a:off x="3278906" y="1943163"/>
            <a:ext cx="59998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 un sistema capace di elaborare informazioni 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2725734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293B7-09FD-D035-3416-EDDDC567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A4B3600-FBB4-DB07-9566-5F1F2DEB7219}"/>
              </a:ext>
            </a:extLst>
          </p:cNvPr>
          <p:cNvSpPr txBox="1"/>
          <p:nvPr/>
        </p:nvSpPr>
        <p:spPr>
          <a:xfrm>
            <a:off x="4766949" y="360762"/>
            <a:ext cx="26581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Comunicazione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1CAEBA-7C6F-D93B-9705-51621968DAFE}"/>
              </a:ext>
            </a:extLst>
          </p:cNvPr>
          <p:cNvSpPr txBox="1"/>
          <p:nvPr/>
        </p:nvSpPr>
        <p:spPr>
          <a:xfrm>
            <a:off x="3356740" y="1552691"/>
            <a:ext cx="547855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Trasferimento di informazioni </a:t>
            </a:r>
          </a:p>
          <a:p>
            <a:endParaRPr lang="it-FR" sz="1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7FF7C88-146B-0E40-D1DC-9A2522B9E837}"/>
              </a:ext>
            </a:extLst>
          </p:cNvPr>
          <p:cNvSpPr/>
          <p:nvPr/>
        </p:nvSpPr>
        <p:spPr>
          <a:xfrm>
            <a:off x="3012707" y="1366787"/>
            <a:ext cx="6266047" cy="141701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E05005-1CE8-7B79-EEAF-458B4B721498}"/>
              </a:ext>
            </a:extLst>
          </p:cNvPr>
          <p:cNvSpPr txBox="1"/>
          <p:nvPr/>
        </p:nvSpPr>
        <p:spPr>
          <a:xfrm>
            <a:off x="3278906" y="1943163"/>
            <a:ext cx="59998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 un sistema capace di elaborare informazioni 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2237785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19390-3C8C-A7F0-F46C-D9072C172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DAA20C-3117-8655-BEED-026A4A950F94}"/>
              </a:ext>
            </a:extLst>
          </p:cNvPr>
          <p:cNvSpPr txBox="1"/>
          <p:nvPr/>
        </p:nvSpPr>
        <p:spPr>
          <a:xfrm>
            <a:off x="4766949" y="360762"/>
            <a:ext cx="26581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Comunicazione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9036EA1-8BBE-78B9-342E-C5AC0A5E15D9}"/>
              </a:ext>
            </a:extLst>
          </p:cNvPr>
          <p:cNvSpPr txBox="1"/>
          <p:nvPr/>
        </p:nvSpPr>
        <p:spPr>
          <a:xfrm>
            <a:off x="3356259" y="1552691"/>
            <a:ext cx="54795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Trasferimento di informazioni </a:t>
            </a:r>
          </a:p>
          <a:p>
            <a:endParaRPr lang="it-FR" sz="1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E71B4E6-FFD0-3379-0C6E-D47629B76689}"/>
              </a:ext>
            </a:extLst>
          </p:cNvPr>
          <p:cNvSpPr/>
          <p:nvPr/>
        </p:nvSpPr>
        <p:spPr>
          <a:xfrm>
            <a:off x="3012707" y="1366787"/>
            <a:ext cx="6266047" cy="141701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7B96B7F-E5C2-BAF1-2A9B-EA4C7250193D}"/>
              </a:ext>
            </a:extLst>
          </p:cNvPr>
          <p:cNvSpPr txBox="1"/>
          <p:nvPr/>
        </p:nvSpPr>
        <p:spPr>
          <a:xfrm>
            <a:off x="3235189" y="2213214"/>
            <a:ext cx="582108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 un altro sistema capace di elaborare informazioni</a:t>
            </a: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19DEABD-BDA2-AB7E-B72A-B4618BDAE4EF}"/>
              </a:ext>
            </a:extLst>
          </p:cNvPr>
          <p:cNvSpPr txBox="1"/>
          <p:nvPr/>
        </p:nvSpPr>
        <p:spPr>
          <a:xfrm>
            <a:off x="3278905" y="1860467"/>
            <a:ext cx="59998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 un sistema capace di elaborare informazioni </a:t>
            </a:r>
          </a:p>
          <a:p>
            <a:endParaRPr lang="it-FR" sz="1400" dirty="0"/>
          </a:p>
        </p:txBody>
      </p:sp>
      <p:cxnSp>
        <p:nvCxnSpPr>
          <p:cNvPr id="10" name="Connettore diritto a freccia 9">
            <a:extLst>
              <a:ext uri="{FF2B5EF4-FFF2-40B4-BE49-F238E27FC236}">
                <a16:creationId xmlns:a16="http://schemas.microsoft.com/office/drawing/2014/main" id="{A7474C37-A0DF-6A36-7514-82574668326C}"/>
              </a:ext>
            </a:extLst>
          </p:cNvPr>
          <p:cNvCxnSpPr/>
          <p:nvPr/>
        </p:nvCxnSpPr>
        <p:spPr>
          <a:xfrm>
            <a:off x="599607" y="3717561"/>
            <a:ext cx="206864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A3E97B1-E4F0-8EC8-E8B4-FF3601D691F4}"/>
              </a:ext>
            </a:extLst>
          </p:cNvPr>
          <p:cNvSpPr txBox="1"/>
          <p:nvPr/>
        </p:nvSpPr>
        <p:spPr>
          <a:xfrm>
            <a:off x="2814596" y="3517506"/>
            <a:ext cx="8997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Perché uno slogan, un discorso,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una frase comunicano quello che comunicano?</a:t>
            </a:r>
            <a:endParaRPr lang="it-FR" sz="1400" dirty="0"/>
          </a:p>
        </p:txBody>
      </p:sp>
      <p:pic>
        <p:nvPicPr>
          <p:cNvPr id="20" name="Elemento grafico 19" descr="Testa con ingranaggi contorno">
            <a:extLst>
              <a:ext uri="{FF2B5EF4-FFF2-40B4-BE49-F238E27FC236}">
                <a16:creationId xmlns:a16="http://schemas.microsoft.com/office/drawing/2014/main" id="{6AE68F7A-E98B-8DDD-0B7A-ACF038E3C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259" y="4651325"/>
            <a:ext cx="914400" cy="914400"/>
          </a:xfrm>
          <a:prstGeom prst="rect">
            <a:avLst/>
          </a:prstGeom>
        </p:spPr>
      </p:pic>
      <p:cxnSp>
        <p:nvCxnSpPr>
          <p:cNvPr id="24" name="Connettore diritto a freccia 23">
            <a:extLst>
              <a:ext uri="{FF2B5EF4-FFF2-40B4-BE49-F238E27FC236}">
                <a16:creationId xmlns:a16="http://schemas.microsoft.com/office/drawing/2014/main" id="{AD606686-BCF0-F8D2-7CE5-9AC1628C1350}"/>
              </a:ext>
            </a:extLst>
          </p:cNvPr>
          <p:cNvCxnSpPr/>
          <p:nvPr/>
        </p:nvCxnSpPr>
        <p:spPr>
          <a:xfrm>
            <a:off x="2698307" y="5108525"/>
            <a:ext cx="206864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BDD8A3E-6B5B-4781-20E7-96E51EFAEB08}"/>
              </a:ext>
            </a:extLst>
          </p:cNvPr>
          <p:cNvSpPr txBox="1"/>
          <p:nvPr/>
        </p:nvSpPr>
        <p:spPr>
          <a:xfrm>
            <a:off x="629665" y="4651325"/>
            <a:ext cx="2068642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Input</a:t>
            </a:r>
          </a:p>
          <a:p>
            <a:pPr algn="ctr"/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“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bla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bla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”</a:t>
            </a:r>
            <a:endParaRPr lang="it-FR" sz="1400" dirty="0"/>
          </a:p>
        </p:txBody>
      </p:sp>
      <p:cxnSp>
        <p:nvCxnSpPr>
          <p:cNvPr id="26" name="Connettore diritto a freccia 25">
            <a:extLst>
              <a:ext uri="{FF2B5EF4-FFF2-40B4-BE49-F238E27FC236}">
                <a16:creationId xmlns:a16="http://schemas.microsoft.com/office/drawing/2014/main" id="{FFCFBE69-159C-7221-8D03-6DFD095C26BA}"/>
              </a:ext>
            </a:extLst>
          </p:cNvPr>
          <p:cNvCxnSpPr/>
          <p:nvPr/>
        </p:nvCxnSpPr>
        <p:spPr>
          <a:xfrm>
            <a:off x="5853659" y="5143543"/>
            <a:ext cx="206864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Elemento grafico 28" descr="Nuvoletta contorno">
            <a:extLst>
              <a:ext uri="{FF2B5EF4-FFF2-40B4-BE49-F238E27FC236}">
                <a16:creationId xmlns:a16="http://schemas.microsoft.com/office/drawing/2014/main" id="{43CAE3E4-1808-2545-FB42-07DF7A0C3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9384" y="4593237"/>
            <a:ext cx="1843868" cy="1843868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EA31835-4010-7E5D-F0F1-7E3638A7750C}"/>
              </a:ext>
            </a:extLst>
          </p:cNvPr>
          <p:cNvSpPr txBox="1"/>
          <p:nvPr/>
        </p:nvSpPr>
        <p:spPr>
          <a:xfrm>
            <a:off x="8761241" y="5053506"/>
            <a:ext cx="6100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bla</a:t>
            </a:r>
            <a:endParaRPr lang="it-IT" sz="2400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5B04F9FF-4CED-F4D1-7FF8-E35D1C30238F}"/>
              </a:ext>
            </a:extLst>
          </p:cNvPr>
          <p:cNvSpPr txBox="1"/>
          <p:nvPr/>
        </p:nvSpPr>
        <p:spPr>
          <a:xfrm>
            <a:off x="8480411" y="4390777"/>
            <a:ext cx="9220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output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2607427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AC560-DFDE-D877-776C-10F25457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CFA42F-D1DC-6DAE-B790-B3387AE05562}"/>
              </a:ext>
            </a:extLst>
          </p:cNvPr>
          <p:cNvSpPr txBox="1"/>
          <p:nvPr/>
        </p:nvSpPr>
        <p:spPr>
          <a:xfrm>
            <a:off x="4766949" y="360762"/>
            <a:ext cx="26581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Comunicazione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D0416E2-7454-17D9-C9CD-B25C540CCD1A}"/>
              </a:ext>
            </a:extLst>
          </p:cNvPr>
          <p:cNvSpPr txBox="1"/>
          <p:nvPr/>
        </p:nvSpPr>
        <p:spPr>
          <a:xfrm>
            <a:off x="3356259" y="1552691"/>
            <a:ext cx="54795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Trasferimento di informazioni </a:t>
            </a:r>
          </a:p>
          <a:p>
            <a:endParaRPr lang="it-FR" sz="1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E50838F-1E40-E299-97D2-EC1ECA5BAA7E}"/>
              </a:ext>
            </a:extLst>
          </p:cNvPr>
          <p:cNvSpPr/>
          <p:nvPr/>
        </p:nvSpPr>
        <p:spPr>
          <a:xfrm>
            <a:off x="3012707" y="1366787"/>
            <a:ext cx="6266047" cy="141701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B66D41-4A01-0EDB-1E9B-9E1AD9DE575F}"/>
              </a:ext>
            </a:extLst>
          </p:cNvPr>
          <p:cNvSpPr txBox="1"/>
          <p:nvPr/>
        </p:nvSpPr>
        <p:spPr>
          <a:xfrm>
            <a:off x="3235189" y="2213214"/>
            <a:ext cx="582108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 un altro sistema capace di elaborare informazioni</a:t>
            </a: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6BDD8FE-1747-8E87-B016-CC3C810B4259}"/>
              </a:ext>
            </a:extLst>
          </p:cNvPr>
          <p:cNvSpPr txBox="1"/>
          <p:nvPr/>
        </p:nvSpPr>
        <p:spPr>
          <a:xfrm>
            <a:off x="3278905" y="1860467"/>
            <a:ext cx="59998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 un sistema capace di elaborare informazioni </a:t>
            </a:r>
          </a:p>
          <a:p>
            <a:endParaRPr lang="it-FR" sz="1400" dirty="0"/>
          </a:p>
        </p:txBody>
      </p:sp>
      <p:cxnSp>
        <p:nvCxnSpPr>
          <p:cNvPr id="10" name="Connettore diritto a freccia 9">
            <a:extLst>
              <a:ext uri="{FF2B5EF4-FFF2-40B4-BE49-F238E27FC236}">
                <a16:creationId xmlns:a16="http://schemas.microsoft.com/office/drawing/2014/main" id="{9DFA1D9C-401F-F121-6DBD-66ABFBF89122}"/>
              </a:ext>
            </a:extLst>
          </p:cNvPr>
          <p:cNvCxnSpPr/>
          <p:nvPr/>
        </p:nvCxnSpPr>
        <p:spPr>
          <a:xfrm>
            <a:off x="599607" y="3717561"/>
            <a:ext cx="206864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E22AC6E-4BE0-7CDF-C831-D2F490BDCF1E}"/>
              </a:ext>
            </a:extLst>
          </p:cNvPr>
          <p:cNvSpPr txBox="1"/>
          <p:nvPr/>
        </p:nvSpPr>
        <p:spPr>
          <a:xfrm>
            <a:off x="2814596" y="3517506"/>
            <a:ext cx="8997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Perché uno slogan, un discorso,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una frase comunicano quello che comunicano?</a:t>
            </a:r>
            <a:endParaRPr lang="it-FR" sz="1400" dirty="0"/>
          </a:p>
        </p:txBody>
      </p:sp>
      <p:pic>
        <p:nvPicPr>
          <p:cNvPr id="20" name="Elemento grafico 19" descr="Testa con ingranaggi contorno">
            <a:extLst>
              <a:ext uri="{FF2B5EF4-FFF2-40B4-BE49-F238E27FC236}">
                <a16:creationId xmlns:a16="http://schemas.microsoft.com/office/drawing/2014/main" id="{704AAD1D-B222-3E9E-4E83-7C4880BCE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259" y="4651325"/>
            <a:ext cx="914400" cy="9144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0DA3DFF-02CC-7341-F139-E7716F69682D}"/>
              </a:ext>
            </a:extLst>
          </p:cNvPr>
          <p:cNvSpPr txBox="1"/>
          <p:nvPr/>
        </p:nvSpPr>
        <p:spPr>
          <a:xfrm>
            <a:off x="5730232" y="4658978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FR" sz="3600" dirty="0">
                <a:solidFill>
                  <a:srgbClr val="FFC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76122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F0C6A14-949B-5FF1-733D-AE3BC39E25E7}"/>
              </a:ext>
            </a:extLst>
          </p:cNvPr>
          <p:cNvSpPr txBox="1"/>
          <p:nvPr/>
        </p:nvSpPr>
        <p:spPr>
          <a:xfrm>
            <a:off x="4766949" y="360762"/>
            <a:ext cx="26581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Comunicazione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cxnSp>
        <p:nvCxnSpPr>
          <p:cNvPr id="8" name="Connettore diritto a freccia 7">
            <a:extLst>
              <a:ext uri="{FF2B5EF4-FFF2-40B4-BE49-F238E27FC236}">
                <a16:creationId xmlns:a16="http://schemas.microsoft.com/office/drawing/2014/main" id="{0E22C1E3-9BD5-E748-BB55-8FCDED82DF24}"/>
              </a:ext>
            </a:extLst>
          </p:cNvPr>
          <p:cNvCxnSpPr>
            <a:cxnSpLocks/>
          </p:cNvCxnSpPr>
          <p:nvPr/>
        </p:nvCxnSpPr>
        <p:spPr>
          <a:xfrm flipH="1">
            <a:off x="2723949" y="2783797"/>
            <a:ext cx="3421782" cy="459917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a freccia 8">
            <a:extLst>
              <a:ext uri="{FF2B5EF4-FFF2-40B4-BE49-F238E27FC236}">
                <a16:creationId xmlns:a16="http://schemas.microsoft.com/office/drawing/2014/main" id="{287F8255-F53E-D380-4635-B0276A1ABFB1}"/>
              </a:ext>
            </a:extLst>
          </p:cNvPr>
          <p:cNvCxnSpPr>
            <a:cxnSpLocks/>
          </p:cNvCxnSpPr>
          <p:nvPr/>
        </p:nvCxnSpPr>
        <p:spPr>
          <a:xfrm>
            <a:off x="6145731" y="2783797"/>
            <a:ext cx="0" cy="645203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a freccia 11">
            <a:extLst>
              <a:ext uri="{FF2B5EF4-FFF2-40B4-BE49-F238E27FC236}">
                <a16:creationId xmlns:a16="http://schemas.microsoft.com/office/drawing/2014/main" id="{9D05F0E2-5D60-B45B-1280-DC0B57AC2615}"/>
              </a:ext>
            </a:extLst>
          </p:cNvPr>
          <p:cNvCxnSpPr>
            <a:cxnSpLocks/>
          </p:cNvCxnSpPr>
          <p:nvPr/>
        </p:nvCxnSpPr>
        <p:spPr>
          <a:xfrm>
            <a:off x="6158564" y="2779631"/>
            <a:ext cx="3784333" cy="658994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103F338-996C-1E56-5F15-C4EE03F914EF}"/>
              </a:ext>
            </a:extLst>
          </p:cNvPr>
          <p:cNvSpPr txBox="1"/>
          <p:nvPr/>
        </p:nvSpPr>
        <p:spPr>
          <a:xfrm>
            <a:off x="1467611" y="3306510"/>
            <a:ext cx="23439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linguaggio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</a:p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(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umano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animale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…)</a:t>
            </a:r>
          </a:p>
          <a:p>
            <a:endParaRPr lang="it-FR" sz="1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1A6FCC1-814D-03B9-5190-968814A76083}"/>
              </a:ext>
            </a:extLst>
          </p:cNvPr>
          <p:cNvSpPr txBox="1"/>
          <p:nvPr/>
        </p:nvSpPr>
        <p:spPr>
          <a:xfrm>
            <a:off x="9567514" y="3429000"/>
            <a:ext cx="10005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musica</a:t>
            </a:r>
          </a:p>
          <a:p>
            <a:endParaRPr lang="it-FR" sz="140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4498737-B826-0143-FD61-DB2F5C76FDCC}"/>
              </a:ext>
            </a:extLst>
          </p:cNvPr>
          <p:cNvSpPr txBox="1"/>
          <p:nvPr/>
        </p:nvSpPr>
        <p:spPr>
          <a:xfrm>
            <a:off x="5465098" y="3392441"/>
            <a:ext cx="136127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segni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visivi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cxnSp>
        <p:nvCxnSpPr>
          <p:cNvPr id="19" name="Connettore diritto a freccia 18">
            <a:extLst>
              <a:ext uri="{FF2B5EF4-FFF2-40B4-BE49-F238E27FC236}">
                <a16:creationId xmlns:a16="http://schemas.microsoft.com/office/drawing/2014/main" id="{95FD52C2-0030-F778-B6E8-9A320E1834FE}"/>
              </a:ext>
            </a:extLst>
          </p:cNvPr>
          <p:cNvCxnSpPr>
            <a:cxnSpLocks/>
          </p:cNvCxnSpPr>
          <p:nvPr/>
        </p:nvCxnSpPr>
        <p:spPr>
          <a:xfrm flipH="1">
            <a:off x="4434840" y="2783796"/>
            <a:ext cx="1710890" cy="608645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002C6A2-ED33-EAF9-4DCE-A673E4B3DD3E}"/>
              </a:ext>
            </a:extLst>
          </p:cNvPr>
          <p:cNvSpPr txBox="1"/>
          <p:nvPr/>
        </p:nvSpPr>
        <p:spPr>
          <a:xfrm>
            <a:off x="4191584" y="3404821"/>
            <a:ext cx="44672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…</a:t>
            </a:r>
          </a:p>
          <a:p>
            <a:endParaRPr lang="it-FR" sz="14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6F2B429-F3B5-EE2D-4AF2-F6D1E109964A}"/>
              </a:ext>
            </a:extLst>
          </p:cNvPr>
          <p:cNvSpPr txBox="1"/>
          <p:nvPr/>
        </p:nvSpPr>
        <p:spPr>
          <a:xfrm>
            <a:off x="7607474" y="3433116"/>
            <a:ext cx="44672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…</a:t>
            </a:r>
          </a:p>
          <a:p>
            <a:endParaRPr lang="it-FR" sz="1400" dirty="0"/>
          </a:p>
        </p:txBody>
      </p:sp>
      <p:cxnSp>
        <p:nvCxnSpPr>
          <p:cNvPr id="23" name="Connettore diritto a freccia 22">
            <a:extLst>
              <a:ext uri="{FF2B5EF4-FFF2-40B4-BE49-F238E27FC236}">
                <a16:creationId xmlns:a16="http://schemas.microsoft.com/office/drawing/2014/main" id="{38B81194-3BFC-A46F-FF8F-25C251AB4C95}"/>
              </a:ext>
            </a:extLst>
          </p:cNvPr>
          <p:cNvCxnSpPr>
            <a:cxnSpLocks/>
          </p:cNvCxnSpPr>
          <p:nvPr/>
        </p:nvCxnSpPr>
        <p:spPr>
          <a:xfrm>
            <a:off x="6125836" y="2787329"/>
            <a:ext cx="1527321" cy="637555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55FBCAE5-D651-8394-745F-7BD525A2B358}"/>
              </a:ext>
            </a:extLst>
          </p:cNvPr>
          <p:cNvSpPr txBox="1"/>
          <p:nvPr/>
        </p:nvSpPr>
        <p:spPr>
          <a:xfrm>
            <a:off x="3356259" y="1552691"/>
            <a:ext cx="54795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Trasferimento di informazioni </a:t>
            </a:r>
          </a:p>
          <a:p>
            <a:endParaRPr lang="it-FR" sz="1400" dirty="0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BDF80BC-52BF-7C95-E87B-638BAFF0E6CD}"/>
              </a:ext>
            </a:extLst>
          </p:cNvPr>
          <p:cNvSpPr/>
          <p:nvPr/>
        </p:nvSpPr>
        <p:spPr>
          <a:xfrm>
            <a:off x="3012707" y="1366787"/>
            <a:ext cx="6266047" cy="141701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26C7A3C-37FC-50EB-98DA-DA3750DEEDE4}"/>
              </a:ext>
            </a:extLst>
          </p:cNvPr>
          <p:cNvSpPr txBox="1"/>
          <p:nvPr/>
        </p:nvSpPr>
        <p:spPr>
          <a:xfrm>
            <a:off x="3235189" y="2213214"/>
            <a:ext cx="582108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 un altro sistema capace di elaborare informazioni</a:t>
            </a:r>
          </a:p>
          <a:p>
            <a:endParaRPr lang="it-FR" sz="1400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EC2552A-3D13-018E-30D5-7A89C5532E02}"/>
              </a:ext>
            </a:extLst>
          </p:cNvPr>
          <p:cNvSpPr txBox="1"/>
          <p:nvPr/>
        </p:nvSpPr>
        <p:spPr>
          <a:xfrm>
            <a:off x="3278905" y="1860467"/>
            <a:ext cx="59998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 un sistema capace di elaborare informazioni 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1711757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1C33A-7434-D766-811D-3C495FBA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D78445-24D4-C512-C18B-500889BB6206}"/>
              </a:ext>
            </a:extLst>
          </p:cNvPr>
          <p:cNvSpPr txBox="1"/>
          <p:nvPr/>
        </p:nvSpPr>
        <p:spPr>
          <a:xfrm>
            <a:off x="4936869" y="360762"/>
            <a:ext cx="231826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animale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pic>
        <p:nvPicPr>
          <p:cNvPr id="4" name="Chimps">
            <a:hlinkClick r:id="" action="ppaction://media"/>
            <a:extLst>
              <a:ext uri="{FF2B5EF4-FFF2-40B4-BE49-F238E27FC236}">
                <a16:creationId xmlns:a16="http://schemas.microsoft.com/office/drawing/2014/main" id="{552895F2-5AD5-B45B-6E0C-8F89426546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44226" y="976315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5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5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A0F6C-FCB2-E167-3877-6A9F4DE8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6AE977-8504-ACAE-DA87-3399D1635FB1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DB0CF0-8BD2-613D-3D30-B5221FDB3839}"/>
              </a:ext>
            </a:extLst>
          </p:cNvPr>
          <p:cNvSpPr txBox="1"/>
          <p:nvPr/>
        </p:nvSpPr>
        <p:spPr>
          <a:xfrm>
            <a:off x="859790" y="1997188"/>
            <a:ext cx="1095245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La capacità di parlare (cioè: di produrre frasi comprensibili ad altri parlanti) è un </a:t>
            </a:r>
            <a:r>
              <a:rPr lang="it-IT" sz="2000" b="1" dirty="0">
                <a:solidFill>
                  <a:schemeClr val="bg1"/>
                </a:solidFill>
                <a:latin typeface="Aptos" panose="020B0004020202020204" pitchFamily="34" charset="0"/>
              </a:rPr>
              <a:t>istinto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Composto di algoritmi complicati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Non ha nulla a che vedere con le regole di «buona» grammatica che vengono insegnate a scuola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Quando parliamo, </a:t>
            </a:r>
            <a:r>
              <a:rPr lang="it-IT" sz="2000" i="1" u="sng" dirty="0">
                <a:solidFill>
                  <a:schemeClr val="bg1"/>
                </a:solidFill>
                <a:latin typeface="Aptos" panose="020B0004020202020204" pitchFamily="34" charset="0"/>
              </a:rPr>
              <a:t>usiamo un computer che non capiamo</a:t>
            </a:r>
            <a:r>
              <a:rPr lang="it-IT" sz="2000" i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algn="just"/>
            <a:endParaRPr lang="it-IT" sz="2000" b="1" i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263525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F4847-7BA2-5CE7-E563-B170EFA7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F2A45F6-33A1-0E60-5423-9CA25B610C96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ACD5FE9-461A-A16C-E414-93531AF1C52F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0C6361-15B6-8479-F7F3-6C3F65029008}"/>
              </a:ext>
            </a:extLst>
          </p:cNvPr>
          <p:cNvSpPr txBox="1"/>
          <p:nvPr/>
        </p:nvSpPr>
        <p:spPr>
          <a:xfrm>
            <a:off x="1087141" y="2343875"/>
            <a:ext cx="10952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FR" sz="2000" dirty="0"/>
              <a:t>🇬🇧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«He made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wash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herself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. »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74548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70AFD-E14A-01FF-11C1-13B930AC2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641E1AC-4A89-046C-2C01-C482E0F5D2BB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ABFF1C-AD14-041F-7ED1-DBBE147242F0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11C4B2-A07C-14CA-56FB-C7F933A4D651}"/>
              </a:ext>
            </a:extLst>
          </p:cNvPr>
          <p:cNvSpPr txBox="1"/>
          <p:nvPr/>
        </p:nvSpPr>
        <p:spPr>
          <a:xfrm>
            <a:off x="1087141" y="2343875"/>
            <a:ext cx="10952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FR" sz="2000" dirty="0"/>
              <a:t>🇬🇧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«Giovanni made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wash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herself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. »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F379DFF-A2B8-4EE9-06A8-FDC759ACAD68}"/>
              </a:ext>
            </a:extLst>
          </p:cNvPr>
          <p:cNvSpPr txBox="1"/>
          <p:nvPr/>
        </p:nvSpPr>
        <p:spPr>
          <a:xfrm>
            <a:off x="1087141" y="3574981"/>
            <a:ext cx="10952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FR" dirty="0"/>
              <a:t>🇮🇹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«Giovanni la fece lavare.»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1376710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D5884-A90C-4FC0-B5B7-2AE84F34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F766F66-816F-3074-5F66-DF22BED4CCAF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C204D6-A6C5-5829-7DF9-ACD796FEEC6F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8F972F-13C8-1BF0-463A-6B41B0E9D94F}"/>
              </a:ext>
            </a:extLst>
          </p:cNvPr>
          <p:cNvSpPr txBox="1"/>
          <p:nvPr/>
        </p:nvSpPr>
        <p:spPr>
          <a:xfrm>
            <a:off x="1087141" y="2343875"/>
            <a:ext cx="10952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FR" dirty="0"/>
              <a:t>🇬🇧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«Giovanni made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wash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herself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. »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DD2E163-EB52-D49B-79C0-5F70E24B65AB}"/>
              </a:ext>
            </a:extLst>
          </p:cNvPr>
          <p:cNvSpPr txBox="1"/>
          <p:nvPr/>
        </p:nvSpPr>
        <p:spPr>
          <a:xfrm>
            <a:off x="1087141" y="3574981"/>
            <a:ext cx="10952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FR" dirty="0"/>
              <a:t>🇮🇹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«Giovanni la fece lavare.»</a:t>
            </a:r>
          </a:p>
          <a:p>
            <a:endParaRPr lang="it-FR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2CB4ADF-0E6F-BDD4-F080-4C1A05321527}"/>
              </a:ext>
            </a:extLst>
          </p:cNvPr>
          <p:cNvSpPr txBox="1"/>
          <p:nvPr/>
        </p:nvSpPr>
        <p:spPr>
          <a:xfrm>
            <a:off x="1087140" y="4881623"/>
            <a:ext cx="10952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FR" dirty="0"/>
              <a:t>🇫🇷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«Giovanni la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fit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IT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laver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.»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4120355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C26FB-75F4-213A-D3BB-DE652D2A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6BF3FC5-8EB4-E8E8-7346-C7B4C7089EAF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50BF541-75A6-D5DA-83EB-0ADDDEEF3C2E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E77545-15E9-13AB-1999-66A78D6713D2}"/>
              </a:ext>
            </a:extLst>
          </p:cNvPr>
          <p:cNvSpPr txBox="1"/>
          <p:nvPr/>
        </p:nvSpPr>
        <p:spPr>
          <a:xfrm>
            <a:off x="1087141" y="2343875"/>
            <a:ext cx="10952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FR" dirty="0"/>
              <a:t>🇬🇧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«Giovanni made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wash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herself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. »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E714501-CC28-4784-0325-6D9C57690D63}"/>
              </a:ext>
            </a:extLst>
          </p:cNvPr>
          <p:cNvSpPr txBox="1"/>
          <p:nvPr/>
        </p:nvSpPr>
        <p:spPr>
          <a:xfrm>
            <a:off x="1087141" y="3574981"/>
            <a:ext cx="10952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FR" dirty="0"/>
              <a:t>🇮🇹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«Giovanni la fece lavare.»</a:t>
            </a:r>
          </a:p>
          <a:p>
            <a:endParaRPr lang="it-FR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3ABB130-9978-AC42-C3B0-94AB49D42AED}"/>
              </a:ext>
            </a:extLst>
          </p:cNvPr>
          <p:cNvSpPr txBox="1"/>
          <p:nvPr/>
        </p:nvSpPr>
        <p:spPr>
          <a:xfrm>
            <a:off x="1087140" y="4881623"/>
            <a:ext cx="10952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FR" dirty="0"/>
              <a:t>🇫🇷 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«Giovanni la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fit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IT" sz="2000" b="1" dirty="0">
                <a:solidFill>
                  <a:schemeClr val="bg1"/>
                </a:solidFill>
                <a:latin typeface="Aptos" panose="020B0004020202020204" pitchFamily="34" charset="0"/>
              </a:rPr>
              <a:t>se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laver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.»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1015698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62074-29A5-AA15-ECCB-AE8E8ECD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38BAFEA-446A-8AAF-9168-36CB9DD6F7AC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EF6852-3916-8028-4AC7-3A8524566823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CC02109-21CB-3719-4FBE-F4B954F7CDF1}"/>
              </a:ext>
            </a:extLst>
          </p:cNvPr>
          <p:cNvSpPr txBox="1"/>
          <p:nvPr/>
        </p:nvSpPr>
        <p:spPr>
          <a:xfrm>
            <a:off x="1239541" y="2813447"/>
            <a:ext cx="1095245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tastic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✅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Fanta-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-nana</a:t>
            </a:r>
            <a:r>
              <a:rPr lang="it-FR" sz="2000" dirty="0"/>
              <a:t> 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Bana-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na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189501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13811-4CF8-F845-B519-FE6605FF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BA4E5BC-9597-808A-0421-0FF3812E4856}"/>
              </a:ext>
            </a:extLst>
          </p:cNvPr>
          <p:cNvSpPr txBox="1"/>
          <p:nvPr/>
        </p:nvSpPr>
        <p:spPr>
          <a:xfrm>
            <a:off x="1239541" y="2813447"/>
            <a:ext cx="1095245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tastic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✅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Fanta-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-nana</a:t>
            </a:r>
            <a:r>
              <a:rPr lang="it-FR" sz="2000" dirty="0"/>
              <a:t> 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Bana-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na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915AE4A-0AEB-AE91-D417-6F51FC4962C1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C9680D-9876-D55C-B4CA-EA12DFF41FA9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CB2CACF-4A69-7E85-020C-2C7A7093E654}"/>
              </a:ext>
            </a:extLst>
          </p:cNvPr>
          <p:cNvSpPr txBox="1"/>
          <p:nvPr/>
        </p:nvSpPr>
        <p:spPr>
          <a:xfrm>
            <a:off x="6261068" y="2813446"/>
            <a:ext cx="1095245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ossibile inserire «fucking» solo:</a:t>
            </a:r>
          </a:p>
          <a:p>
            <a:pPr marL="342900" indent="-342900" algn="just">
              <a:buFontTx/>
              <a:buChar char="-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rima della sillaba su cui cade l’accento</a:t>
            </a:r>
          </a:p>
          <a:p>
            <a:pPr marL="800100" lvl="1" indent="-342900" algn="just">
              <a:buFontTx/>
              <a:buChar char="-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antástic</a:t>
            </a:r>
          </a:p>
          <a:p>
            <a:pPr marL="342900" indent="-342900" algn="just">
              <a:buFontTx/>
              <a:buChar char="-"/>
            </a:pP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Se la prima sillaba non è debole</a:t>
            </a:r>
          </a:p>
          <a:p>
            <a:pPr marL="800100" lvl="1" indent="-342900" algn="just">
              <a:buFontTx/>
              <a:buChar char="-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’nana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251487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ADA08-BF5D-3F6B-49ED-7500E3629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9BFFB7-C987-B6D0-5C63-04E21E104D18}"/>
              </a:ext>
            </a:extLst>
          </p:cNvPr>
          <p:cNvSpPr txBox="1"/>
          <p:nvPr/>
        </p:nvSpPr>
        <p:spPr>
          <a:xfrm>
            <a:off x="1239541" y="2813447"/>
            <a:ext cx="1095245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tastic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✅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Fanta-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-nana</a:t>
            </a:r>
            <a:r>
              <a:rPr lang="it-FR" sz="2000" dirty="0"/>
              <a:t> 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Bana-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na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B77D270-4F4D-4320-BB78-4B70B7DA3A94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BB067B-C1F7-3546-850A-0F717C037C01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656C40-825A-41B3-92E7-9ED8BA4ACF39}"/>
              </a:ext>
            </a:extLst>
          </p:cNvPr>
          <p:cNvSpPr txBox="1"/>
          <p:nvPr/>
        </p:nvSpPr>
        <p:spPr>
          <a:xfrm>
            <a:off x="6261068" y="2813446"/>
            <a:ext cx="1095245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ossibile inserire «fucking» solo:</a:t>
            </a:r>
          </a:p>
          <a:p>
            <a:pPr marL="342900" indent="-342900" algn="just">
              <a:buFontTx/>
              <a:buChar char="-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rima della sillaba su cui cade l’accento</a:t>
            </a:r>
          </a:p>
          <a:p>
            <a:pPr marL="800100" lvl="1" indent="-342900" algn="just">
              <a:buFontTx/>
              <a:buChar char="-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antástic</a:t>
            </a:r>
          </a:p>
          <a:p>
            <a:pPr marL="342900" indent="-342900" algn="just">
              <a:buFontTx/>
              <a:buChar char="-"/>
            </a:pP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Se la prima sillaba non è debole</a:t>
            </a:r>
          </a:p>
          <a:p>
            <a:pPr marL="800100" lvl="1" indent="-342900" algn="just">
              <a:buFontTx/>
              <a:buChar char="-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’nana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D60D231-9507-3329-918A-7CFC9ABA5622}"/>
              </a:ext>
            </a:extLst>
          </p:cNvPr>
          <p:cNvSpPr txBox="1"/>
          <p:nvPr/>
        </p:nvSpPr>
        <p:spPr>
          <a:xfrm>
            <a:off x="2401527" y="4986369"/>
            <a:ext cx="70042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Una regola non insegnat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a da nessun manuale di grammatica; </a:t>
            </a:r>
          </a:p>
          <a:p>
            <a:pPr algn="ctr"/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Ma tutti i parlanti nativi dell’inglese la padroneggiano!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3094739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69320-3A17-F5C7-1681-6A2D2DBB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4B61BE-0CA2-E6A9-1516-10065CAEAC81}"/>
              </a:ext>
            </a:extLst>
          </p:cNvPr>
          <p:cNvSpPr txBox="1"/>
          <p:nvPr/>
        </p:nvSpPr>
        <p:spPr>
          <a:xfrm>
            <a:off x="1239541" y="2813447"/>
            <a:ext cx="1095245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tastic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✅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Fanta-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stic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-nana</a:t>
            </a:r>
            <a:r>
              <a:rPr lang="it-FR" sz="2000" dirty="0"/>
              <a:t> 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Bana-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fucking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-</a:t>
            </a: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na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it-FR" sz="2000" dirty="0"/>
              <a:t>❌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766813-5CC3-3F37-C39A-BD7AF241A623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850C87-FBA7-A383-BC23-967AF8E69C76}"/>
              </a:ext>
            </a:extLst>
          </p:cNvPr>
          <p:cNvSpPr txBox="1"/>
          <p:nvPr/>
        </p:nvSpPr>
        <p:spPr>
          <a:xfrm>
            <a:off x="784839" y="1112769"/>
            <a:ext cx="109524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Istinto, non grammatica “corretta”!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6DFE0AB-D616-8BBF-7FE2-9F6336D9CEED}"/>
              </a:ext>
            </a:extLst>
          </p:cNvPr>
          <p:cNvSpPr txBox="1"/>
          <p:nvPr/>
        </p:nvSpPr>
        <p:spPr>
          <a:xfrm>
            <a:off x="6261068" y="2813446"/>
            <a:ext cx="1095245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ossibile inserire «fucking» solo:</a:t>
            </a:r>
          </a:p>
          <a:p>
            <a:pPr marL="342900" indent="-342900" algn="just">
              <a:buFontTx/>
              <a:buChar char="-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rima della sillaba su cui cade l’accento</a:t>
            </a:r>
          </a:p>
          <a:p>
            <a:pPr marL="800100" lvl="1" indent="-342900" algn="just">
              <a:buFontTx/>
              <a:buChar char="-"/>
            </a:pPr>
            <a:r>
              <a:rPr lang="it-IT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antástic</a:t>
            </a:r>
          </a:p>
          <a:p>
            <a:pPr marL="342900" indent="-342900" algn="just">
              <a:buFontTx/>
              <a:buChar char="-"/>
            </a:pP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Se la prima sillaba non è debole</a:t>
            </a:r>
          </a:p>
          <a:p>
            <a:pPr marL="800100" lvl="1" indent="-342900" algn="just">
              <a:buFontTx/>
              <a:buChar char="-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  <a:r>
              <a:rPr lang="it-FR" sz="2000" dirty="0">
                <a:solidFill>
                  <a:schemeClr val="bg1"/>
                </a:solidFill>
                <a:latin typeface="Aptos" panose="020B0004020202020204" pitchFamily="34" charset="0"/>
              </a:rPr>
              <a:t>’nana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0C1BC9C-93DE-C191-BFD1-15EEC9035775}"/>
              </a:ext>
            </a:extLst>
          </p:cNvPr>
          <p:cNvSpPr txBox="1"/>
          <p:nvPr/>
        </p:nvSpPr>
        <p:spPr>
          <a:xfrm>
            <a:off x="2401527" y="4986369"/>
            <a:ext cx="70042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Una regola non insegnat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a da nessun manuale di grammatica; </a:t>
            </a:r>
          </a:p>
          <a:p>
            <a:pPr algn="ctr"/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Ma tutti i parlanti nativi dell’inglese la padroneggiano!</a:t>
            </a: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2335254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83BF7-B7B4-8CD0-45DF-2EF32A21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87C86B3-1511-D427-5EB6-22E7E4CC1219}"/>
              </a:ext>
            </a:extLst>
          </p:cNvPr>
          <p:cNvSpPr txBox="1"/>
          <p:nvPr/>
        </p:nvSpPr>
        <p:spPr>
          <a:xfrm>
            <a:off x="4994577" y="360762"/>
            <a:ext cx="22028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Linguaggio</a:t>
            </a:r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AU" sz="2000" b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umano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pic>
        <p:nvPicPr>
          <p:cNvPr id="8" name="Immagine 7" descr="Immagine che contiene schizzo, diagramma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32CAB34D-C146-64EA-67D2-AD2F21A5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722" y="1886159"/>
            <a:ext cx="7772400" cy="261694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DD545E5-54D1-9B6E-F869-20B538B3CD13}"/>
              </a:ext>
            </a:extLst>
          </p:cNvPr>
          <p:cNvSpPr txBox="1"/>
          <p:nvPr/>
        </p:nvSpPr>
        <p:spPr>
          <a:xfrm>
            <a:off x="5090760" y="4503104"/>
            <a:ext cx="201048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McCarthy (1982)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C917F2C-0F43-01F8-0E85-EB87E13CC703}"/>
              </a:ext>
            </a:extLst>
          </p:cNvPr>
          <p:cNvSpPr txBox="1"/>
          <p:nvPr/>
        </p:nvSpPr>
        <p:spPr>
          <a:xfrm>
            <a:off x="1397694" y="1270606"/>
            <a:ext cx="939661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Regole inconsce, che tutti padroneggiamo, non insegnate da nessuna grammatica</a:t>
            </a:r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it-FR" sz="1400" dirty="0"/>
          </a:p>
        </p:txBody>
      </p:sp>
    </p:spTree>
    <p:extLst>
      <p:ext uri="{BB962C8B-B14F-4D97-AF65-F5344CB8AC3E}">
        <p14:creationId xmlns:p14="http://schemas.microsoft.com/office/powerpoint/2010/main" val="3332727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34140-45E1-C3CB-4268-5B0FDF595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74F2B50-5DAA-EDCE-1686-D74F02A34435}"/>
              </a:ext>
            </a:extLst>
          </p:cNvPr>
          <p:cNvSpPr txBox="1"/>
          <p:nvPr/>
        </p:nvSpPr>
        <p:spPr>
          <a:xfrm>
            <a:off x="5603656" y="360762"/>
            <a:ext cx="9846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Musica</a:t>
            </a:r>
          </a:p>
          <a:p>
            <a:r>
              <a:rPr lang="it-FR" sz="1400" dirty="0"/>
              <a:t>Studio </a:t>
            </a:r>
          </a:p>
        </p:txBody>
      </p:sp>
      <p:pic>
        <p:nvPicPr>
          <p:cNvPr id="3" name="AV68. Stanley Kubrick – 2001_ A Space Odyssey">
            <a:hlinkClick r:id="" action="ppaction://media"/>
            <a:extLst>
              <a:ext uri="{FF2B5EF4-FFF2-40B4-BE49-F238E27FC236}">
                <a16:creationId xmlns:a16="http://schemas.microsoft.com/office/drawing/2014/main" id="{936F9E1F-40D1-9F23-C698-4AF32C8303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1600200"/>
            <a:ext cx="8128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4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0D76F-3424-DCEC-2705-B4A6BB7F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FBD6FE6-432B-AB09-16D6-B052AC88FA1C}"/>
              </a:ext>
            </a:extLst>
          </p:cNvPr>
          <p:cNvSpPr txBox="1"/>
          <p:nvPr/>
        </p:nvSpPr>
        <p:spPr>
          <a:xfrm>
            <a:off x="5603656" y="360762"/>
            <a:ext cx="9846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Musica</a:t>
            </a:r>
          </a:p>
          <a:p>
            <a:r>
              <a:rPr lang="it-FR" sz="1400" dirty="0"/>
              <a:t>Studio </a:t>
            </a:r>
          </a:p>
        </p:txBody>
      </p:sp>
      <p:pic>
        <p:nvPicPr>
          <p:cNvPr id="4" name="ssvid.net---AV71-Excerpt-from-Kubrick-s-2001-A-Space-Odyssey_v720P">
            <a:hlinkClick r:id="" action="ppaction://media"/>
            <a:extLst>
              <a:ext uri="{FF2B5EF4-FFF2-40B4-BE49-F238E27FC236}">
                <a16:creationId xmlns:a16="http://schemas.microsoft.com/office/drawing/2014/main" id="{95ADFBE1-831B-4041-66B9-0C93105DA3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19563" y="1248504"/>
            <a:ext cx="7752874" cy="436099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93D21F2-86F7-2912-950B-6B092F69255C}"/>
              </a:ext>
            </a:extLst>
          </p:cNvPr>
          <p:cNvSpPr txBox="1"/>
          <p:nvPr/>
        </p:nvSpPr>
        <p:spPr>
          <a:xfrm>
            <a:off x="4957086" y="5808689"/>
            <a:ext cx="20379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Schlenker (2023)</a:t>
            </a:r>
          </a:p>
          <a:p>
            <a:r>
              <a:rPr lang="it-FR" sz="1400" dirty="0"/>
              <a:t>Studio </a:t>
            </a:r>
          </a:p>
        </p:txBody>
      </p:sp>
    </p:spTree>
    <p:extLst>
      <p:ext uri="{BB962C8B-B14F-4D97-AF65-F5344CB8AC3E}">
        <p14:creationId xmlns:p14="http://schemas.microsoft.com/office/powerpoint/2010/main" val="308698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7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BE54D-D778-6809-15C9-8D8E5690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9AAA451-3724-8063-72C6-7A7E6376B226}"/>
              </a:ext>
            </a:extLst>
          </p:cNvPr>
          <p:cNvSpPr txBox="1"/>
          <p:nvPr/>
        </p:nvSpPr>
        <p:spPr>
          <a:xfrm>
            <a:off x="5603656" y="360762"/>
            <a:ext cx="9846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Musica</a:t>
            </a:r>
          </a:p>
          <a:p>
            <a:r>
              <a:rPr lang="it-FR" sz="1400" dirty="0"/>
              <a:t>Studio </a:t>
            </a:r>
          </a:p>
        </p:txBody>
      </p:sp>
      <p:pic>
        <p:nvPicPr>
          <p:cNvPr id="4" name="ssvid.net--AV73-Excerpt-from-Kubrick-s-2001-A-Space-Odyssey_v720P">
            <a:hlinkClick r:id="" action="ppaction://media"/>
            <a:extLst>
              <a:ext uri="{FF2B5EF4-FFF2-40B4-BE49-F238E27FC236}">
                <a16:creationId xmlns:a16="http://schemas.microsoft.com/office/drawing/2014/main" id="{C5CD8AF6-4236-3B96-4EC5-5935B6C7CC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07277" y="1266029"/>
            <a:ext cx="8377446" cy="471231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7E3810-333F-AD85-86F8-3D15654414FA}"/>
              </a:ext>
            </a:extLst>
          </p:cNvPr>
          <p:cNvSpPr txBox="1"/>
          <p:nvPr/>
        </p:nvSpPr>
        <p:spPr>
          <a:xfrm>
            <a:off x="5077002" y="6189461"/>
            <a:ext cx="20379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Schlenker (2023)</a:t>
            </a:r>
          </a:p>
          <a:p>
            <a:r>
              <a:rPr lang="it-FR" sz="1400" dirty="0"/>
              <a:t>Studio </a:t>
            </a:r>
          </a:p>
        </p:txBody>
      </p:sp>
    </p:spTree>
    <p:extLst>
      <p:ext uri="{BB962C8B-B14F-4D97-AF65-F5344CB8AC3E}">
        <p14:creationId xmlns:p14="http://schemas.microsoft.com/office/powerpoint/2010/main" val="135850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A1B05-AC58-735F-5689-3A163B21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9D8001-91AB-7687-3BBF-CC2B33FF7062}"/>
              </a:ext>
            </a:extLst>
          </p:cNvPr>
          <p:cNvSpPr txBox="1"/>
          <p:nvPr/>
        </p:nvSpPr>
        <p:spPr>
          <a:xfrm>
            <a:off x="3866066" y="360762"/>
            <a:ext cx="445987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Studio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scientifico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della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comunicazione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it-FR" sz="1400" dirty="0"/>
              <a:t>Studio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C3D5BA7-B944-2990-E836-73A07602D689}"/>
              </a:ext>
            </a:extLst>
          </p:cNvPr>
          <p:cNvSpPr txBox="1"/>
          <p:nvPr/>
        </p:nvSpPr>
        <p:spPr>
          <a:xfrm>
            <a:off x="399367" y="1129179"/>
            <a:ext cx="1125682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La comunicazione, così come la lingua, </a:t>
            </a:r>
            <a:r>
              <a:rPr lang="it-IT" sz="2000" i="1" dirty="0">
                <a:solidFill>
                  <a:schemeClr val="bg1"/>
                </a:solidFill>
                <a:latin typeface="Aptos" panose="020B0004020202020204" pitchFamily="34" charset="0"/>
              </a:rPr>
              <a:t>può</a:t>
            </a: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 essere </a:t>
            </a:r>
            <a:r>
              <a:rPr lang="it-IT" sz="2000" u="sng" dirty="0">
                <a:solidFill>
                  <a:schemeClr val="bg1"/>
                </a:solidFill>
                <a:latin typeface="Aptos" panose="020B0004020202020204" pitchFamily="34" charset="0"/>
              </a:rPr>
              <a:t>studiata scientificamente</a:t>
            </a:r>
          </a:p>
          <a:p>
            <a:pPr algn="just"/>
            <a:endParaRPr lang="it-IT" sz="2000" u="sng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just"/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Capire “come funziona la macchina” che ci permette di comunicare ha due grandi vantaggi:</a:t>
            </a:r>
          </a:p>
          <a:p>
            <a:pPr algn="just"/>
            <a:endParaRPr lang="it-IT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457200" indent="-457200" algn="just">
              <a:buAutoNum type="arabicPeriod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È spendibile sul mercato del Lavoro</a:t>
            </a:r>
          </a:p>
          <a:p>
            <a:pPr marL="457200" indent="-457200" algn="just">
              <a:buAutoNum type="arabicPeriod"/>
            </a:pPr>
            <a:r>
              <a:rPr lang="it-IT" sz="2000" dirty="0">
                <a:solidFill>
                  <a:schemeClr val="bg1"/>
                </a:solidFill>
                <a:latin typeface="Aptos" panose="020B0004020202020204" pitchFamily="34" charset="0"/>
              </a:rPr>
              <a:t>Rende cittadini migliori</a:t>
            </a:r>
          </a:p>
          <a:p>
            <a:r>
              <a:rPr lang="it-FR" sz="1400" dirty="0"/>
              <a:t>Studio </a:t>
            </a:r>
          </a:p>
        </p:txBody>
      </p:sp>
    </p:spTree>
    <p:extLst>
      <p:ext uri="{BB962C8B-B14F-4D97-AF65-F5344CB8AC3E}">
        <p14:creationId xmlns:p14="http://schemas.microsoft.com/office/powerpoint/2010/main" val="1201954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13E89-3B7E-D952-E8B9-4C5C0388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DB5A3DB-51F1-54D1-9EEA-F2C029D56ABB}"/>
              </a:ext>
            </a:extLst>
          </p:cNvPr>
          <p:cNvSpPr txBox="1"/>
          <p:nvPr/>
        </p:nvSpPr>
        <p:spPr>
          <a:xfrm>
            <a:off x="3423321" y="360762"/>
            <a:ext cx="534537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Esempio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: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presupposizioni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e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assunti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impliciti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it-FR" sz="1400" dirty="0"/>
              <a:t>Studio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EDF493F-038C-6DAD-602A-BE4560A0D305}"/>
              </a:ext>
            </a:extLst>
          </p:cNvPr>
          <p:cNvSpPr txBox="1"/>
          <p:nvPr/>
        </p:nvSpPr>
        <p:spPr>
          <a:xfrm>
            <a:off x="4482449" y="2003979"/>
            <a:ext cx="322710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Maria ha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smesso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fumare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r>
              <a:rPr lang="it-FR" sz="1400" dirty="0"/>
              <a:t>Studio </a:t>
            </a:r>
          </a:p>
        </p:txBody>
      </p:sp>
    </p:spTree>
    <p:extLst>
      <p:ext uri="{BB962C8B-B14F-4D97-AF65-F5344CB8AC3E}">
        <p14:creationId xmlns:p14="http://schemas.microsoft.com/office/powerpoint/2010/main" val="811263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F80E0-75EF-D050-3A3A-3AEFAF51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8A33100-085E-8156-DA23-AF5D0685AFF3}"/>
              </a:ext>
            </a:extLst>
          </p:cNvPr>
          <p:cNvSpPr txBox="1"/>
          <p:nvPr/>
        </p:nvSpPr>
        <p:spPr>
          <a:xfrm>
            <a:off x="3423321" y="360762"/>
            <a:ext cx="534537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Esempio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: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presupposizioni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e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assunti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impliciti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it-FR" sz="1400" dirty="0"/>
              <a:t>Studio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F0CB6B1-907B-EE85-F4DA-C08CE3AB5E77}"/>
              </a:ext>
            </a:extLst>
          </p:cNvPr>
          <p:cNvSpPr txBox="1"/>
          <p:nvPr/>
        </p:nvSpPr>
        <p:spPr>
          <a:xfrm>
            <a:off x="4482449" y="2003979"/>
            <a:ext cx="322710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Maria ha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smesso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fumare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r>
              <a:rPr lang="it-FR" sz="1400" dirty="0"/>
              <a:t>Studio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71CBEA-545E-A371-EC93-60A2AF6F7FDB}"/>
              </a:ext>
            </a:extLst>
          </p:cNvPr>
          <p:cNvSpPr txBox="1"/>
          <p:nvPr/>
        </p:nvSpPr>
        <p:spPr>
          <a:xfrm>
            <a:off x="4246679" y="2619532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FR" sz="1400" dirty="0"/>
              <a:t>Studio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FE34F4-534A-3CDB-2B39-308868D56052}"/>
              </a:ext>
            </a:extLst>
          </p:cNvPr>
          <p:cNvSpPr txBox="1"/>
          <p:nvPr/>
        </p:nvSpPr>
        <p:spPr>
          <a:xfrm>
            <a:off x="3998406" y="3037582"/>
            <a:ext cx="41951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Tua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figlia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ha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smesso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fumare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Aspe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aspe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…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mia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figlia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fumava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???</a:t>
            </a:r>
          </a:p>
          <a:p>
            <a:r>
              <a:rPr lang="it-FR" sz="1400" dirty="0"/>
              <a:t>Studio </a:t>
            </a:r>
          </a:p>
        </p:txBody>
      </p:sp>
    </p:spTree>
    <p:extLst>
      <p:ext uri="{BB962C8B-B14F-4D97-AF65-F5344CB8AC3E}">
        <p14:creationId xmlns:p14="http://schemas.microsoft.com/office/powerpoint/2010/main" val="197295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FD299-9350-9128-C2C4-EB92E5AE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CB2DED7-006E-50E4-989D-E6587325CC3C}"/>
              </a:ext>
            </a:extLst>
          </p:cNvPr>
          <p:cNvSpPr txBox="1"/>
          <p:nvPr/>
        </p:nvSpPr>
        <p:spPr>
          <a:xfrm>
            <a:off x="3423321" y="360762"/>
            <a:ext cx="534537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Esempio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: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presupposizioni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e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assunti</a:t>
            </a:r>
            <a:r>
              <a:rPr lang="en-AU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impliciti</a:t>
            </a:r>
            <a:endParaRPr lang="en-AU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it-FR" sz="1400" dirty="0"/>
              <a:t>Studio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53BC66-0BC3-6177-0881-0387BE33D352}"/>
              </a:ext>
            </a:extLst>
          </p:cNvPr>
          <p:cNvSpPr txBox="1"/>
          <p:nvPr/>
        </p:nvSpPr>
        <p:spPr>
          <a:xfrm>
            <a:off x="4482449" y="2003979"/>
            <a:ext cx="322710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Maria ha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smesso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fumare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r>
              <a:rPr lang="it-FR" sz="1400" dirty="0"/>
              <a:t>Studio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34C7832-6AE4-AC64-9545-476D7DD2CCCC}"/>
              </a:ext>
            </a:extLst>
          </p:cNvPr>
          <p:cNvSpPr txBox="1"/>
          <p:nvPr/>
        </p:nvSpPr>
        <p:spPr>
          <a:xfrm>
            <a:off x="4246679" y="2619532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FR" sz="1400" dirty="0"/>
              <a:t>Studio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EEF997-C0E7-C02B-70F1-CAC7AFB54754}"/>
              </a:ext>
            </a:extLst>
          </p:cNvPr>
          <p:cNvSpPr txBox="1"/>
          <p:nvPr/>
        </p:nvSpPr>
        <p:spPr>
          <a:xfrm>
            <a:off x="3998406" y="3037582"/>
            <a:ext cx="41951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Tua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figlia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ha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smesso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fumare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Aspe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aspe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…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mia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figlia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fumava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???</a:t>
            </a:r>
          </a:p>
          <a:p>
            <a:r>
              <a:rPr lang="it-FR" sz="1400" dirty="0"/>
              <a:t>Studio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7FEF2E9-3A68-6234-5A04-5D6677006A94}"/>
              </a:ext>
            </a:extLst>
          </p:cNvPr>
          <p:cNvSpPr txBox="1"/>
          <p:nvPr/>
        </p:nvSpPr>
        <p:spPr>
          <a:xfrm>
            <a:off x="4246679" y="4680799"/>
            <a:ext cx="369864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Maria non ha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smesso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 di </a:t>
            </a:r>
            <a:r>
              <a:rPr lang="en-AU" sz="2000" i="1" dirty="0" err="1">
                <a:solidFill>
                  <a:schemeClr val="bg1"/>
                </a:solidFill>
                <a:latin typeface="Aptos" panose="020B0004020202020204" pitchFamily="34" charset="0"/>
              </a:rPr>
              <a:t>fumare</a:t>
            </a:r>
            <a:r>
              <a:rPr lang="en-AU" sz="2000" i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  <a:p>
            <a:r>
              <a:rPr lang="it-FR" sz="1400" dirty="0"/>
              <a:t>Studio </a:t>
            </a:r>
          </a:p>
        </p:txBody>
      </p:sp>
    </p:spTree>
    <p:extLst>
      <p:ext uri="{BB962C8B-B14F-4D97-AF65-F5344CB8AC3E}">
        <p14:creationId xmlns:p14="http://schemas.microsoft.com/office/powerpoint/2010/main" val="1264700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11574</TotalTime>
  <Words>691</Words>
  <Application>Microsoft Macintosh PowerPoint</Application>
  <PresentationFormat>Widescreen</PresentationFormat>
  <Paragraphs>165</Paragraphs>
  <Slides>25</Slides>
  <Notes>0</Notes>
  <HiddenSlides>0</HiddenSlides>
  <MMClips>4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NimbusRomNo9L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guer</dc:creator>
  <cp:lastModifiedBy>jan guer</cp:lastModifiedBy>
  <cp:revision>5</cp:revision>
  <dcterms:created xsi:type="dcterms:W3CDTF">2025-09-26T15:17:55Z</dcterms:created>
  <dcterms:modified xsi:type="dcterms:W3CDTF">2026-10-04T22:52:36Z</dcterms:modified>
</cp:coreProperties>
</file>